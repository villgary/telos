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18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TELOS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18AD4"/>
                </a:solidFill>
              </a:rPr>
              <a:t>Know every account. Detect every threat. Respond before damage.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E8"/>
                </a:solidFill>
              </a:rPr>
              <a:t>身份威胁检测与响应平台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879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218AD4"/>
                </a:solidFill>
              </a:rPr>
              <a:t>Identity Threat Detection &amp;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E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2636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997A8"/>
                </a:solidFill>
              </a:rPr>
              <a:t>www.telos.com  |  contact@telos.com  |  400-XXX-XXXX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218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D2B5A"/>
                </a:solidFill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997A8"/>
                </a:solidFill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99616"/>
            <a:ext cx="256032" cy="256032"/>
          </a:xfrm>
          <a:prstGeom prst="rect">
            <a:avLst/>
          </a:prstGeom>
          <a:solidFill>
            <a:srgbClr val="1E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2E"/>
                </a:solidFill>
              </a:rPr>
              <a:t>市场背景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719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97A8"/>
                </a:solidFill>
              </a:rPr>
              <a:t>Market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21408"/>
            <a:ext cx="256032" cy="256032"/>
          </a:xfrm>
          <a:prstGeom prst="rect">
            <a:avLst/>
          </a:prstGeom>
          <a:solidFill>
            <a:srgbClr val="1E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084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2E"/>
                </a:solidFill>
              </a:rPr>
              <a:t>核心痛点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340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97A8"/>
                </a:solidFill>
              </a:rPr>
              <a:t>Core Pain 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256032" cy="256032"/>
          </a:xfrm>
          <a:prstGeom prst="rect">
            <a:avLst/>
          </a:prstGeom>
          <a:solidFill>
            <a:srgbClr val="1E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706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2E"/>
                </a:solidFill>
              </a:rPr>
              <a:t>Telos 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9626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97A8"/>
                </a:solidFill>
              </a:rPr>
              <a:t>Telos 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64992"/>
            <a:ext cx="256032" cy="256032"/>
          </a:xfrm>
          <a:prstGeom prst="rect">
            <a:avLst/>
          </a:prstGeom>
          <a:solidFill>
            <a:srgbClr val="1E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4670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3284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2E"/>
                </a:solidFill>
              </a:rPr>
              <a:t>核心能力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584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97A8"/>
                </a:solidFill>
              </a:rPr>
              <a:t>Core Capabilities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86784"/>
            <a:ext cx="256032" cy="256032"/>
          </a:xfrm>
          <a:prstGeom prst="rect">
            <a:avLst/>
          </a:prstGeom>
          <a:solidFill>
            <a:srgbClr val="1E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6849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950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2E"/>
                </a:solidFill>
              </a:rPr>
              <a:t>产品演示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97A8"/>
                </a:solidFill>
              </a:rPr>
              <a:t>Product Demo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608576"/>
            <a:ext cx="256032" cy="256032"/>
          </a:xfrm>
          <a:prstGeom prst="rect">
            <a:avLst/>
          </a:prstGeom>
          <a:solidFill>
            <a:srgbClr val="1E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9028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2E"/>
                </a:solidFill>
              </a:rPr>
              <a:t>客户价值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828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97A8"/>
                </a:solidFill>
              </a:rPr>
              <a:t>Customer 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230368"/>
            <a:ext cx="256032" cy="256032"/>
          </a:xfrm>
          <a:prstGeom prst="rect">
            <a:avLst/>
          </a:prstGeom>
          <a:solidFill>
            <a:srgbClr val="1E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1208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193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2E"/>
                </a:solidFill>
              </a:rPr>
              <a:t>适用场景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54498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97A8"/>
                </a:solidFill>
              </a:rPr>
              <a:t>Use Cases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499616"/>
            <a:ext cx="256032" cy="256032"/>
          </a:xfrm>
          <a:prstGeom prst="rect">
            <a:avLst/>
          </a:prstGeom>
          <a:solidFill>
            <a:srgbClr val="1E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48132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2E"/>
                </a:solidFill>
              </a:rPr>
              <a:t>竞争优势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1719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97A8"/>
                </a:solidFill>
              </a:rPr>
              <a:t>Competitive Edge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21408"/>
            <a:ext cx="256032" cy="256032"/>
          </a:xfrm>
          <a:prstGeom prst="rect">
            <a:avLst/>
          </a:prstGeom>
          <a:solidFill>
            <a:srgbClr val="1E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10312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8272" y="2084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2E"/>
                </a:solidFill>
              </a:rPr>
              <a:t>客户案例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2340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97A8"/>
                </a:solidFill>
              </a:rPr>
              <a:t>Customer Stories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743200"/>
            <a:ext cx="256032" cy="256032"/>
          </a:xfrm>
          <a:prstGeom prst="rect">
            <a:avLst/>
          </a:prstGeom>
          <a:solidFill>
            <a:srgbClr val="1E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72491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2706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2E"/>
                </a:solidFill>
              </a:rPr>
              <a:t>部署模式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29626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97A8"/>
                </a:solidFill>
              </a:rPr>
              <a:t>Deployment Options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3364992"/>
            <a:ext cx="256032" cy="256032"/>
          </a:xfrm>
          <a:prstGeom prst="rect">
            <a:avLst/>
          </a:prstGeom>
          <a:solidFill>
            <a:srgbClr val="1E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34670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8272" y="33284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F2E"/>
                </a:solidFill>
              </a:rPr>
              <a:t>联系我们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3584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997A8"/>
                </a:solidFill>
              </a:rPr>
              <a:t>Contact 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18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E5A9E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市场背景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218AD4"/>
                </a:solidFill>
              </a:rPr>
              <a:t>Market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市场背景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>Market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4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1075190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5505"/>
                <a:gridCol w="54864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数据点 / Data Point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数值 / Value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涉身份的攻击占比 / Identity-related attacks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&gt;80% of breaches involve compromised credentials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企业平均账号数量（10,000+ 服务器）/ Avg. account count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50,000+ accounts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影子账号发现率 / Shadow account discovery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平均 15-25% 未在册 / undiscovered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NHI 爆发增速 / NHI growth rate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机器账号已超过人员账号 3-5x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典型损失案例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>Cost of Identity Breaches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5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941546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3929062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事件 / Incident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损失 / Impact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Capital One 数据泄露 / Capital One breach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$300M 罚款，1亿账号信息曝光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特权账号滥用导致勒索 / Privileged account ransomware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平均赎金 $570K+，停机损失 $M 级别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离职 IT 账号未清理 / Unterminated IT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平均驻留时间 180+ 天，横向移动风险极高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18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E5A9E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核心痛点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218AD4"/>
                </a:solidFill>
              </a:rPr>
              <a:t>Core Pain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>Core Pain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7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11462463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734319"/>
                <a:gridCol w="5356544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痛点 / Pain Point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后果 / Consequence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离职账号、沉睡特权账号长期存在 / Departed/dormant privileged accounts persist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攻击者利用"永久凭证"横向移动 / Attackers exploit "permanent credentials" for lateral movement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凭据泄露、弱密码、特权滥用靠人工巡检 / Credential leaks/weak passwords detected manually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发现时已造成损失，平均泄露成本逾 $488 万 / Damage already done by time of detection; avg. $4.88M cost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告警孤立，看不到账号间的关系与攻击路径 / Alerts isolated, no attack path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无法判断影响范围，响应滞后 / Cannot determine blast radius, response delayed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NHI（非人类身份）爆发式增长 / NHI (Non-Human Identity) explosive growth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机器账号远超人员账号，最大攻击面无人看管 / Machine accounts outnumber human 3-5x, largest attack surface unguarded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合规审计靠人工整理，效率低下 / Compliance audits rely on manual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等保2.0/SOC2/ISO27001 要求难以满足 / Difficult to meet GB/T 22239-2019, SOC2, ISO27001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18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E5A9E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Telos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218AD4"/>
                </a:solidFill>
              </a:rPr>
              <a:t>Telos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Telos 如何解决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>How Telos Addresses This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9 / 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11430000" cy="3474720"/>
          </a:xfrm>
          <a:prstGeom prst="rect">
            <a:avLst/>
          </a:prstGeom>
          <a:solidFill>
            <a:srgbClr val="F5F7FA"/>
          </a:solidFill>
          <a:ln w="6350">
            <a:solidFill>
              <a:srgbClr val="899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8016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</a:rPr>
              <a:t>[发现 / Discover]     →  [分析 / Analyze]   →  [告警 / Alert]    →  [响应 / Respond]
 全面扫描所有账号        五层AI威胁分析          实时多渠道告警         自动化处置剧本
 Scan all accounts      5-Layer AI analysis     Real-time alerting    Automated playbooks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577840"/>
            <a:ext cx="1143000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218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650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2B5A"/>
                </a:solidFill>
              </a:rPr>
              <a:t>“Telos Know every account. Detect every threat. Respond before damage.”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18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E5A9E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218AD4"/>
                </a:solidFill>
              </a:rPr>
              <a:t>Core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核心能力 1：全面账号资产发现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11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989797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4411578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平台 / Platform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账号类型 / Account Types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🪟 Windows (WMI/WinRM)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本地账号、AD 域账号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☁️ 云平台 (AWS IAM / 阿里云 / 腾讯云)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IAM 用户/角色/组、Access Key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🗄️ 特权访问管理 (PAM)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堡垒机账号、特权审批记录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🗃️ 数据库 (MySQL / PostgreSQL / Redis)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应用账号、数据库管理员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📁 LDAP / Active Directory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企业目录账号、联合身份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391363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✅  自动发现，无需手动录入 / Auto-discovery, no manual 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34256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✅  增量扫描，仅检测变更 / Incremental scan detects only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54880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✅  统一清单，告别 Excel / Unified inventory, no more spreadsheets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核心能力 2：MITRE ATT&amp;CK 威胁映射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12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1103670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8709"/>
                <a:gridCol w="5486400"/>
                <a:gridCol w="13716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ATT&amp;CK 战术 / ATT&amp;CK Tactic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说明 / Description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Telos 支持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TA0004 权限提升 / Privilege Escalation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sudo 滥用、UID 变更 / sudo abuse, UID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TA0006 凭据访问 / Credential Access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密码窃取、SSH 密钥复用 / Password theft, key reuse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TA0008 横向移动 / Lateral Movement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SSH 密钥复用传播 / SSH key reuse propagation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TA0003 持久化 / Persistence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后门账号、特权账号新增 / Backdoor accounts, new privileged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TA0005 防御规避 / Defense Evasion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账号隐藏、权限降级掩盖 / Account hiding, de-escalation masking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核心能力 3：五层 AI 威胁分析引擎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13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1142999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782"/>
                <a:gridCol w="4224130"/>
                <a:gridCol w="4721086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层级 / Layer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名称 / Name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检测能力 / Detection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🎭 Layer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本体层 Ontology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影子账号、角色混淆、孤立孤儿账号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🧠 Layer 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认知层 Cognitive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确认偏差、光环效应、正常化偏差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👥 Layer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人类学层 Anthropology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高风险信任链、权限簇人机混用、身份隔离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🔗 Layer 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因果层 Causal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权限提升路径、沉睡特权链、因果中枢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3474720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🐍  Python FastAPI（默认）— 快速原型化，灵活配置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95344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⚡  Go mythos-engine（可选）— 高性能，10,000+ 账号并发分析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核心能力 4：NHI 非人类身份管理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14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1075190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112"/>
                <a:gridCol w="5486400"/>
                <a:gridCol w="2825393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类型 / Type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风险 / Risk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示例 / Example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CI/CD Credential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永久 Token / Permanent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GitHub Actions secrets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API Key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无轮换机制 / No rotation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云平台 Access Key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Cloud IAM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最小权限原则违反 / Principle of least privilege violated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过度授权的 IAM 角色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AI Agent Credential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新兴风险 / Emerging risk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Agent 使用的 LLM API Key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3474720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📊  NHI 风险仪表板（Top 10 高风险 NHI）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95344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🔄  轮换提醒与生命周期管理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15968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🔗  归属人关联（自动关联到人员身份）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3659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📤  合规报告导出（满足审计要求）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核心能力 5：账号生命周期自动化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15 / 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11430000" cy="3474720"/>
          </a:xfrm>
          <a:prstGeom prst="rect">
            <a:avLst/>
          </a:prstGeom>
          <a:solidFill>
            <a:srgbClr val="F5F7FA"/>
          </a:solidFill>
          <a:ln w="6350">
            <a:solidFill>
              <a:srgbClr val="899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8016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</a:rPr>
              <a:t>[活跃 / Active]  ── 90天无登录 ──→  [沉睡 / Dormant]
     ↑                                     │
     └─── 有登录行为 ─────────────────────────┘
                                          ↓
                              180天无登录 → [离职 / Departed]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663440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⏰ 基于登录行为自动判断账号状态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84064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🔔  状态变更自动触发告警（沉睡→离职时通知）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04688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🤖  支持触发自动化处置剧本（禁用/归档）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2531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📊  生命周期报告定期生成（支持 SOC2/ISO27001）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核心能力 6：实时告警与联动响应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16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112719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975555"/>
                <a:gridCol w="38100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告警类型 / Alert Type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严重性 / Severity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说明 / Description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🔴 NOPASSWD Sudo 新增 / NOPASSWD Sudo Added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严重 / 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无密码 sudo 配置引入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🔴 敏感凭据泄露 / Credential Leak Detected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严重 / Critical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发现 shadow/known_hosts 等危险文件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🟠 孤儿特权账号 / Orphan Privileged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高危 /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无关联人员身份的特权账号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🟡 休眠账号重新激活 / Dormant Account Reactivated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中危 / Medium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沉寂账号再次活跃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解决方案架构图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17 / 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11430000" cy="3474720"/>
          </a:xfrm>
          <a:prstGeom prst="rect">
            <a:avLst/>
          </a:prstGeom>
          <a:solidFill>
            <a:srgbClr val="F5F7FA"/>
          </a:solidFill>
          <a:ln w="6350">
            <a:solidFill>
              <a:srgbClr val="899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8016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A"/>
                </a:solidFill>
              </a:rPr>
              <a:t>┌─────────────────────────────────────────────────────────┐
│                     前端 UI (React + Ant Design)        │
│               仪表盘 / 威胁分析 / 告警 / NHI              │
└──────────────────────┬──────────────────────────────────┘
                       │ HTTPS (REST API)
┌──────────────────────▼──────────────────────────────────┐
│              Python FastAPI 后端 (端口 8000)               │
│  扫描调度 / 威胁分析 / 告警引擎 / 策略评估 / 用户管理 / RBAC  │
└──────┬────────────────┬───────────────────┬──────────────┘
       │                │                   │
┌──────▼──────┐  ┌──────▼──────┐  ┌──────▼──────────┐
│ PostgreSQL  │  │    Redis    │  │ Go mythos-engine │
│  (账号数据)  │  │  (缓存/队列) │  │  (高性能分析引擎) │
└─────────────┘  └─────────────┘  └─────────────────┘
       │
┌──────▼──────────────────────────────────────────────────┐
│              扫描代理 / Scanner Plugins                  │
│  SSH / WMI / WinRM / 云 API / PAM API / 数据库连接       │
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18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E5A9E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产品界面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218AD4"/>
                </a:solidFill>
              </a:rPr>
              <a:t>Product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产品界面：仪表盘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19 / 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7132320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899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997A8"/>
                </a:solidFill>
              </a:rPr>
              <a:t>[ 仪表盘界面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517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997A8"/>
                </a:solidFill>
              </a:rPr>
              <a:t>[ Dashboard UI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产品界面：ATT&amp;CK 覆盖率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20 / 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7132320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899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997A8"/>
                </a:solidFill>
              </a:rPr>
              <a:t>[ ATT&amp;CK覆盖率界面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517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997A8"/>
                </a:solidFill>
              </a:rPr>
              <a:t>[ ATT&amp;CK Coverage UI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18872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按  严重性分组展示所有信号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62763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每  条信号显示：信号类型 / 影响账号 / ATT&amp;CK ID / 处置建议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06654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适  合快速了解最高风险项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505456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按  ATT&amp;CK 技术分组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94436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显  示置信度 / 信号数量 / 证据摘要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38328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适  合深度分析和报告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产品界面：告警中心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21 / 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7132320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899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997A8"/>
                </a:solidFill>
              </a:rPr>
              <a:t>[ 告警中心界面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517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997A8"/>
                </a:solidFill>
              </a:rPr>
              <a:t>[ Alert Center UI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18872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🔄  SSE 实时推送，新告警秒达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62763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🔕  告警去重（同类告警 30 分钟内去重）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06654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📊  告警趋势分析（按日/周/月维度）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505456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📤  支持导出告警记录供审计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18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E5A9E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客户价值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218AD4"/>
                </a:solidFill>
              </a:rPr>
              <a:t>Customer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客户价值量化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>Customer Value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23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114300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/>
                <a:gridCol w="2628900"/>
                <a:gridCol w="2400300"/>
                <a:gridCol w="20574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 / Metric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行业平均 / Industry Avg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Telos 客户 / With Telos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提升幅度 / Improvement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MTTR（平均响应时间）/ Mean Time to Respond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69 天 /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&lt; 2 小时 /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↓ 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攻击面缩减 / Attack Surface Reduction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平均 62%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清理僵尸账号后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特权账号发现率 / Privileged Account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65% 已知 / 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100% 全发现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+35%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合规审计效率 / Compliance Audit Efficiency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人工 2-4 周 / manual weeks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&lt; 1 小时 / hours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↓ 95%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告警疲劳 / Alert Fatigue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每天 1000+ 噪声 /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&lt; 50 条/天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↓ 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适用行业与场景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24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98298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43434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场景 / Scenario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说明 / Description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🏛️ 政府部门 / Government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政务云资产梳理、等保 2.0 合规审计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🏢 大型企业 / Large Enterprise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多地域资产统一管控、身份融合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☁️ 云原生 / Cloud-Native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云 IAM 安全、CI/CD 凭证管理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🔒 攻防演练 / Red Team / Pen Testing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攻击前资产梳理、攻击路径识别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🛡️ 攻防演练防御 / Blue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横向移动检测、攻击路径阻断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391363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攻  防演练前 → 快速摸清所有账号资产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34256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特  权账号审计 → 发现 NOPASSWD/UID=0 等高危配置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54880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离  职账号清理 → 自动识别待清理账号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18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E5A9E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竞争优势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218AD4"/>
                </a:solidFill>
              </a:rPr>
              <a:t>Competitive 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竞争优势对比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26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1182768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4048"/>
                <a:gridCol w="1371600"/>
                <a:gridCol w="3358837"/>
                <a:gridCol w="1371600"/>
                <a:gridCol w="13716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对比维度 / Dimension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Telos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传统堡垒机 / Traditional Bastion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身份治理 IGA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EDR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ATT&amp;CK 映射 / ATT&amp;CK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 原生支持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❌ 不支持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⚠️ 部分支持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⚠️ 部分支持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五层 AI 威胁分析 / 5-Layer AI Analysis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 自主研发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❌ 不支持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⚠️ 规则引擎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⚠️ 规则引擎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NHI 管理 / NHI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 原生支持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❌ 不支持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⚠️ 弱支持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❌ 不支持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横向移动检测 / Lateral Movement Detection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 支持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❌ 不支持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⚠️ 部分支持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⚠️ 部分支持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部署复杂度 / Deployment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 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 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❌ 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⚠️ 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响应时间 / Time to Value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 小时级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 小时级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❌ 天级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⚠️ 天级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竞争优势（续）：独特卖点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18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E5A9E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客户案例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218AD4"/>
                </a:solidFill>
              </a:rPr>
              <a:t>Customer Stories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客户案例 1：某省级政务云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29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81534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6670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 / Metric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数值 / Value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📉 攻击面缩减 / Attack surface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⚠️ 高危配置项检出 / High-risk configurations detected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234 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⏱️ 部署到首份报告 / Time to first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&lt; 4 小时 /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3035808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🏛  ️ 省级政务云，200+ 台服务器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5643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面  临问题：账号资产底数不清，攻防演练前急需摸排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77056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全  量账号扫描（200+ 服务器，48 小时内完成）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97680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五  层 AI 威胁分析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718304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僵  尸账号自动化清理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客户案例 2：某金融机构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30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828558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799183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 / Metric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数值 / Value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📈 安全评分提升 / Security score 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45 → 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✅ 合规检查项通过率 / Compliance pass rate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⏱️ 审计周期缩短 / Audit cycle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从 4 周 → 1 小时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3035808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🏦  大型金融机构，3000+ 终端，500+ 服务器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5643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面  临问题：横向移动风险高，合规审计压力大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77056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ATT&amp;CK 覆盖率全面分析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97680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特  权账号专项审计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718304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F2E"/>
                </a:solidFill>
              </a:rPr>
              <a:t>自  动化合规报告（SOC2 / ISO27001）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18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1E5A9E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部署与生态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218AD4"/>
                </a:solidFill>
              </a:rPr>
              <a:t>Deployment &amp;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部署模式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32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1142999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4528"/>
                <a:gridCol w="3234905"/>
                <a:gridCol w="3450566"/>
              </a:tblGrid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部署模式 / Mode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适用场景 / Use Case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优势 / Advantage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☁️ 私有云 / Private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企业私有云环境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复用云基础设施，弹性扩展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🔀 混合云 / Hybrid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多云 + 本地混合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统一管控跨环境账号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📡 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快速上线、无运维能力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零运维，订阅即用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资源 / Resource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最低 / Minimum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推荐 / Recommended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4 核 / cores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8 核+ / cores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内存 / Memory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8 GB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16 GB+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磁盘 / 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50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100 GB+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账号规模 / Account Scale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单引擎 10,000+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25603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合作伙伴与生态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18AD4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7A8"/>
                </a:solidFill>
              </a:rPr>
              <a:t>Telos  |  身份威胁检测与响应平台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7A8"/>
                </a:solidFill>
              </a:rPr>
              <a:t>33 / 34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88720"/>
          <a:ext cx="8582025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5625"/>
                <a:gridCol w="54864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类别 / Category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集成产品 / Products</a:t>
                      </a:r>
                    </a:p>
                  </a:txBody>
                  <a:tcPr>
                    <a:solidFill>
                      <a:srgbClr val="0D2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🤖 SOAR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阿里云 SOAR, 腾讯云 SOAR, Palo Alto XSOAR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🔑 身份 IdM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Azure AD, Okta, Keycloak, LDAP/AD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🛡️ PAM 特权访问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腾讯云 PAM, 阿里云 PAM, CyberArk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💬 协同办公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Slack, 飞书, 企业微信, 钉钉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📊 可视化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2E"/>
                          </a:solidFill>
                        </a:rPr>
                        <a:t>Grafana, Kibana, 自定义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18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立即开启身份安全新篇章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1089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218AD4"/>
                </a:solidFill>
              </a:rPr>
              <a:t>Start Your Identity Security Journey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>www.telos.com  |  contact@telos.com  |  400-XXX-XXXX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463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8"/>
                </a:solidFill>
              </a:rPr>
              <a:t>预约产品演示  |  申请 POC 环境  |  安全评估咨询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E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997A8"/>
                </a:solidFill>
              </a:rPr>
              <a:t>Telos v2.0  |  © 2026 Telos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